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556000" cy="75565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Impact" panose="020B0806030902050204" pitchFamily="34" charset="0"/>
      <p:regular r:id="rId7"/>
    </p:embeddedFont>
    <p:embeddedFont>
      <p:font typeface="Kunstler Script" panose="030304020206070D0D06" pitchFamily="66" charset="0"/>
      <p:regular r:id="rId8"/>
    </p:embeddedFont>
    <p:embeddedFont>
      <p:font typeface="League Gothic" panose="020B0604020202020204" charset="0"/>
      <p:regular r:id="rId9"/>
    </p:embeddedFont>
    <p:embeddedFont>
      <p:font typeface="Raleway Bold" panose="020B0604020202020204" charset="0"/>
      <p:regular r:id="rId10"/>
    </p:embeddedFont>
    <p:embeddedFont>
      <p:font typeface="Th Sarabun New" panose="020B0604020202020204" charset="-3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314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-2115" y="389284"/>
            <a:ext cx="354049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1"/>
              </a:lnSpc>
            </a:pPr>
            <a:r>
              <a:rPr lang="en-US" sz="3991" dirty="0">
                <a:solidFill>
                  <a:srgbClr val="F8E7D2"/>
                </a:solidFill>
                <a:latin typeface="Impact"/>
                <a:ea typeface="Impact"/>
                <a:cs typeface="Impact"/>
                <a:sym typeface="Impact"/>
              </a:rPr>
              <a:t>DIOSES GRIEGOS</a:t>
            </a:r>
          </a:p>
        </p:txBody>
      </p:sp>
      <p:sp>
        <p:nvSpPr>
          <p:cNvPr id="6" name="Freeform 6"/>
          <p:cNvSpPr/>
          <p:nvPr/>
        </p:nvSpPr>
        <p:spPr>
          <a:xfrm>
            <a:off x="2034636" y="2585799"/>
            <a:ext cx="927446" cy="1259495"/>
          </a:xfrm>
          <a:custGeom>
            <a:avLst/>
            <a:gdLst/>
            <a:ahLst/>
            <a:cxnLst/>
            <a:rect l="l" t="t" r="r" b="b"/>
            <a:pathLst>
              <a:path w="927446" h="1259495">
                <a:moveTo>
                  <a:pt x="0" y="0"/>
                </a:moveTo>
                <a:lnTo>
                  <a:pt x="927446" y="0"/>
                </a:lnTo>
                <a:lnTo>
                  <a:pt x="927446" y="1259495"/>
                </a:lnTo>
                <a:lnTo>
                  <a:pt x="0" y="1259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SV" dirty="0"/>
          </a:p>
        </p:txBody>
      </p:sp>
      <p:grpSp>
        <p:nvGrpSpPr>
          <p:cNvPr id="7" name="Group 7"/>
          <p:cNvGrpSpPr/>
          <p:nvPr/>
        </p:nvGrpSpPr>
        <p:grpSpPr>
          <a:xfrm>
            <a:off x="389287" y="891058"/>
            <a:ext cx="2792028" cy="180606"/>
            <a:chOff x="0" y="0"/>
            <a:chExt cx="3015051" cy="1950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15051" cy="195032"/>
            </a:xfrm>
            <a:custGeom>
              <a:avLst/>
              <a:gdLst/>
              <a:ahLst/>
              <a:cxnLst/>
              <a:rect l="l" t="t" r="r" b="b"/>
              <a:pathLst>
                <a:path w="3015051" h="195032">
                  <a:moveTo>
                    <a:pt x="0" y="0"/>
                  </a:moveTo>
                  <a:lnTo>
                    <a:pt x="3015051" y="0"/>
                  </a:lnTo>
                  <a:lnTo>
                    <a:pt x="3015051" y="195032"/>
                  </a:lnTo>
                  <a:lnTo>
                    <a:pt x="0" y="195032"/>
                  </a:lnTo>
                  <a:close/>
                </a:path>
              </a:pathLst>
            </a:custGeom>
            <a:solidFill>
              <a:srgbClr val="FFA73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3015051" cy="195032"/>
            </a:xfrm>
            <a:prstGeom prst="rect">
              <a:avLst/>
            </a:prstGeom>
          </p:spPr>
          <p:txBody>
            <a:bodyPr lIns="20160" tIns="20160" rIns="20160" bIns="20160" rtlCol="0" anchor="ctr"/>
            <a:lstStyle/>
            <a:p>
              <a:pPr algn="ctr">
                <a:lnSpc>
                  <a:spcPts val="56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98406" y="1181001"/>
            <a:ext cx="1350432" cy="1328334"/>
          </a:xfrm>
          <a:custGeom>
            <a:avLst/>
            <a:gdLst/>
            <a:ahLst/>
            <a:cxnLst/>
            <a:rect l="l" t="t" r="r" b="b"/>
            <a:pathLst>
              <a:path w="1350432" h="1328334">
                <a:moveTo>
                  <a:pt x="0" y="0"/>
                </a:moveTo>
                <a:lnTo>
                  <a:pt x="1350432" y="0"/>
                </a:lnTo>
                <a:lnTo>
                  <a:pt x="1350432" y="1328334"/>
                </a:lnTo>
                <a:lnTo>
                  <a:pt x="0" y="1328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88858" y="2509380"/>
            <a:ext cx="2792314" cy="180324"/>
            <a:chOff x="0" y="0"/>
            <a:chExt cx="3015359" cy="1947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15359" cy="194728"/>
            </a:xfrm>
            <a:custGeom>
              <a:avLst/>
              <a:gdLst/>
              <a:ahLst/>
              <a:cxnLst/>
              <a:rect l="l" t="t" r="r" b="b"/>
              <a:pathLst>
                <a:path w="3015359" h="194728">
                  <a:moveTo>
                    <a:pt x="0" y="0"/>
                  </a:moveTo>
                  <a:lnTo>
                    <a:pt x="3015359" y="0"/>
                  </a:lnTo>
                  <a:lnTo>
                    <a:pt x="3015359" y="194728"/>
                  </a:lnTo>
                  <a:lnTo>
                    <a:pt x="0" y="194728"/>
                  </a:lnTo>
                  <a:close/>
                </a:path>
              </a:pathLst>
            </a:custGeom>
            <a:solidFill>
              <a:srgbClr val="FFA73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3015359" cy="194728"/>
            </a:xfrm>
            <a:prstGeom prst="rect">
              <a:avLst/>
            </a:prstGeom>
          </p:spPr>
          <p:txBody>
            <a:bodyPr lIns="20160" tIns="20160" rIns="20160" bIns="20160" rtlCol="0" anchor="ctr"/>
            <a:lstStyle/>
            <a:p>
              <a:pPr algn="ctr">
                <a:lnSpc>
                  <a:spcPts val="56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3034" y="3845294"/>
            <a:ext cx="2792099" cy="87600"/>
            <a:chOff x="0" y="0"/>
            <a:chExt cx="3015128" cy="945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15128" cy="94598"/>
            </a:xfrm>
            <a:custGeom>
              <a:avLst/>
              <a:gdLst/>
              <a:ahLst/>
              <a:cxnLst/>
              <a:rect l="l" t="t" r="r" b="b"/>
              <a:pathLst>
                <a:path w="3015128" h="94598">
                  <a:moveTo>
                    <a:pt x="0" y="0"/>
                  </a:moveTo>
                  <a:lnTo>
                    <a:pt x="3015128" y="0"/>
                  </a:lnTo>
                  <a:lnTo>
                    <a:pt x="3015128" y="94598"/>
                  </a:lnTo>
                  <a:lnTo>
                    <a:pt x="0" y="94598"/>
                  </a:lnTo>
                  <a:close/>
                </a:path>
              </a:pathLst>
            </a:custGeom>
            <a:solidFill>
              <a:srgbClr val="FFA73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3015128" cy="94598"/>
            </a:xfrm>
            <a:prstGeom prst="rect">
              <a:avLst/>
            </a:prstGeom>
          </p:spPr>
          <p:txBody>
            <a:bodyPr lIns="20160" tIns="20160" rIns="20160" bIns="20160" rtlCol="0" anchor="ctr"/>
            <a:lstStyle/>
            <a:p>
              <a:pPr algn="ctr">
                <a:lnSpc>
                  <a:spcPts val="565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867315" y="5139893"/>
            <a:ext cx="683373" cy="910061"/>
          </a:xfrm>
          <a:custGeom>
            <a:avLst/>
            <a:gdLst/>
            <a:ahLst/>
            <a:cxnLst/>
            <a:rect l="l" t="t" r="r" b="b"/>
            <a:pathLst>
              <a:path w="683373" h="910061">
                <a:moveTo>
                  <a:pt x="0" y="0"/>
                </a:moveTo>
                <a:lnTo>
                  <a:pt x="683373" y="0"/>
                </a:lnTo>
                <a:lnTo>
                  <a:pt x="683373" y="910061"/>
                </a:lnTo>
                <a:lnTo>
                  <a:pt x="0" y="910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710145" y="4090394"/>
            <a:ext cx="865385" cy="910061"/>
          </a:xfrm>
          <a:custGeom>
            <a:avLst/>
            <a:gdLst/>
            <a:ahLst/>
            <a:cxnLst/>
            <a:rect l="l" t="t" r="r" b="b"/>
            <a:pathLst>
              <a:path w="865385" h="910061">
                <a:moveTo>
                  <a:pt x="0" y="0"/>
                </a:moveTo>
                <a:lnTo>
                  <a:pt x="865385" y="0"/>
                </a:lnTo>
                <a:lnTo>
                  <a:pt x="865385" y="910061"/>
                </a:lnTo>
                <a:lnTo>
                  <a:pt x="0" y="9100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>
            <a:off x="378635" y="5065997"/>
            <a:ext cx="2784957" cy="0"/>
          </a:xfrm>
          <a:prstGeom prst="line">
            <a:avLst/>
          </a:prstGeom>
          <a:ln w="19050" cap="flat">
            <a:solidFill>
              <a:srgbClr val="FFA7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171127" y="4066239"/>
            <a:ext cx="888488" cy="954431"/>
          </a:xfrm>
          <a:custGeom>
            <a:avLst/>
            <a:gdLst/>
            <a:ahLst/>
            <a:cxnLst/>
            <a:rect l="l" t="t" r="r" b="b"/>
            <a:pathLst>
              <a:path w="888488" h="954431">
                <a:moveTo>
                  <a:pt x="0" y="0"/>
                </a:moveTo>
                <a:lnTo>
                  <a:pt x="888489" y="0"/>
                </a:lnTo>
                <a:lnTo>
                  <a:pt x="888489" y="954431"/>
                </a:lnTo>
                <a:lnTo>
                  <a:pt x="0" y="9544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68914" y="6151677"/>
            <a:ext cx="829492" cy="1022916"/>
          </a:xfrm>
          <a:custGeom>
            <a:avLst/>
            <a:gdLst/>
            <a:ahLst/>
            <a:cxnLst/>
            <a:rect l="l" t="t" r="r" b="b"/>
            <a:pathLst>
              <a:path w="829492" h="1022916">
                <a:moveTo>
                  <a:pt x="0" y="0"/>
                </a:moveTo>
                <a:lnTo>
                  <a:pt x="829493" y="0"/>
                </a:lnTo>
                <a:lnTo>
                  <a:pt x="829493" y="1022917"/>
                </a:lnTo>
                <a:lnTo>
                  <a:pt x="0" y="1022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737093" y="6254212"/>
            <a:ext cx="786410" cy="969788"/>
          </a:xfrm>
          <a:custGeom>
            <a:avLst/>
            <a:gdLst/>
            <a:ahLst/>
            <a:cxnLst/>
            <a:rect l="l" t="t" r="r" b="b"/>
            <a:pathLst>
              <a:path w="786410" h="969788">
                <a:moveTo>
                  <a:pt x="0" y="0"/>
                </a:moveTo>
                <a:lnTo>
                  <a:pt x="786409" y="0"/>
                </a:lnTo>
                <a:lnTo>
                  <a:pt x="786409" y="969788"/>
                </a:lnTo>
                <a:lnTo>
                  <a:pt x="0" y="9697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-75352" y="7234668"/>
            <a:ext cx="3750323" cy="396624"/>
            <a:chOff x="0" y="0"/>
            <a:chExt cx="4049893" cy="428305"/>
          </a:xfrm>
          <a:solidFill>
            <a:srgbClr val="FFC000"/>
          </a:solidFill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49893" cy="428305"/>
            </a:xfrm>
            <a:custGeom>
              <a:avLst/>
              <a:gdLst/>
              <a:ahLst/>
              <a:cxnLst/>
              <a:rect l="l" t="t" r="r" b="b"/>
              <a:pathLst>
                <a:path w="4049893" h="428305">
                  <a:moveTo>
                    <a:pt x="0" y="0"/>
                  </a:moveTo>
                  <a:lnTo>
                    <a:pt x="4049893" y="0"/>
                  </a:lnTo>
                  <a:lnTo>
                    <a:pt x="4049893" y="428305"/>
                  </a:lnTo>
                  <a:lnTo>
                    <a:pt x="0" y="428305"/>
                  </a:lnTo>
                  <a:close/>
                </a:path>
              </a:pathLst>
            </a:custGeom>
            <a:grpFill/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4049893" cy="428305"/>
            </a:xfrm>
            <a:prstGeom prst="rect">
              <a:avLst/>
            </a:prstGeom>
            <a:grpFill/>
          </p:spPr>
          <p:txBody>
            <a:bodyPr lIns="20160" tIns="20160" rIns="20160" bIns="20160" rtlCol="0" anchor="ctr"/>
            <a:lstStyle/>
            <a:p>
              <a:pPr algn="ctr">
                <a:lnSpc>
                  <a:spcPts val="565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318110" y="5108170"/>
            <a:ext cx="761106" cy="973508"/>
          </a:xfrm>
          <a:custGeom>
            <a:avLst/>
            <a:gdLst/>
            <a:ahLst/>
            <a:cxnLst/>
            <a:rect l="l" t="t" r="r" b="b"/>
            <a:pathLst>
              <a:path w="761106" h="973508">
                <a:moveTo>
                  <a:pt x="0" y="0"/>
                </a:moveTo>
                <a:lnTo>
                  <a:pt x="761106" y="0"/>
                </a:lnTo>
                <a:lnTo>
                  <a:pt x="761106" y="973507"/>
                </a:lnTo>
                <a:lnTo>
                  <a:pt x="0" y="9735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222189" y="-117802"/>
            <a:ext cx="4043998" cy="264698"/>
          </a:xfrm>
          <a:custGeom>
            <a:avLst/>
            <a:gdLst/>
            <a:ahLst/>
            <a:cxnLst/>
            <a:rect l="l" t="t" r="r" b="b"/>
            <a:pathLst>
              <a:path w="4043998" h="264698">
                <a:moveTo>
                  <a:pt x="0" y="0"/>
                </a:moveTo>
                <a:lnTo>
                  <a:pt x="4043998" y="0"/>
                </a:lnTo>
                <a:lnTo>
                  <a:pt x="4043998" y="264698"/>
                </a:lnTo>
                <a:lnTo>
                  <a:pt x="0" y="2646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-1129714" y="3839673"/>
            <a:ext cx="1510086" cy="98842"/>
          </a:xfrm>
          <a:custGeom>
            <a:avLst/>
            <a:gdLst/>
            <a:ahLst/>
            <a:cxnLst/>
            <a:rect l="l" t="t" r="r" b="b"/>
            <a:pathLst>
              <a:path w="1510086" h="98842">
                <a:moveTo>
                  <a:pt x="0" y="0"/>
                </a:moveTo>
                <a:lnTo>
                  <a:pt x="1510086" y="0"/>
                </a:lnTo>
                <a:lnTo>
                  <a:pt x="1510086" y="98842"/>
                </a:lnTo>
                <a:lnTo>
                  <a:pt x="0" y="9884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197795" y="3839673"/>
            <a:ext cx="1510086" cy="98842"/>
          </a:xfrm>
          <a:custGeom>
            <a:avLst/>
            <a:gdLst/>
            <a:ahLst/>
            <a:cxnLst/>
            <a:rect l="l" t="t" r="r" b="b"/>
            <a:pathLst>
              <a:path w="1510086" h="98842">
                <a:moveTo>
                  <a:pt x="0" y="0"/>
                </a:moveTo>
                <a:lnTo>
                  <a:pt x="1510086" y="0"/>
                </a:lnTo>
                <a:lnTo>
                  <a:pt x="1510086" y="98842"/>
                </a:lnTo>
                <a:lnTo>
                  <a:pt x="0" y="9884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0" name="AutoShape 30"/>
          <p:cNvSpPr/>
          <p:nvPr/>
        </p:nvSpPr>
        <p:spPr>
          <a:xfrm>
            <a:off x="389522" y="6116677"/>
            <a:ext cx="2784957" cy="0"/>
          </a:xfrm>
          <a:prstGeom prst="line">
            <a:avLst/>
          </a:prstGeom>
          <a:ln w="19050" cap="flat">
            <a:solidFill>
              <a:srgbClr val="FFA7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/>
          <p:cNvSpPr/>
          <p:nvPr/>
        </p:nvSpPr>
        <p:spPr>
          <a:xfrm>
            <a:off x="855226" y="7460480"/>
            <a:ext cx="231898" cy="153052"/>
          </a:xfrm>
          <a:custGeom>
            <a:avLst/>
            <a:gdLst/>
            <a:ahLst/>
            <a:cxnLst/>
            <a:rect l="l" t="t" r="r" b="b"/>
            <a:pathLst>
              <a:path w="231898" h="153052">
                <a:moveTo>
                  <a:pt x="0" y="0"/>
                </a:moveTo>
                <a:lnTo>
                  <a:pt x="231897" y="0"/>
                </a:lnTo>
                <a:lnTo>
                  <a:pt x="231897" y="153053"/>
                </a:lnTo>
                <a:lnTo>
                  <a:pt x="0" y="15305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89170" y="2503313"/>
            <a:ext cx="1301957" cy="21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86">
                <a:solidFill>
                  <a:srgbClr val="383636"/>
                </a:solidFill>
                <a:latin typeface="Impact"/>
                <a:ea typeface="Impact"/>
                <a:cs typeface="Impact"/>
                <a:sym typeface="Impact"/>
              </a:rPr>
              <a:t>Dioses olímpicos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7124" y="879186"/>
            <a:ext cx="1299936" cy="21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86">
                <a:solidFill>
                  <a:srgbClr val="383636"/>
                </a:solidFill>
                <a:latin typeface="Impact"/>
                <a:ea typeface="Impact"/>
                <a:cs typeface="Impact"/>
                <a:sym typeface="Impact"/>
              </a:rPr>
              <a:t>La Mitología Griega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88858" y="1350219"/>
            <a:ext cx="824234" cy="107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"/>
              </a:lnSpc>
            </a:pPr>
            <a:r>
              <a:rPr lang="en-US" sz="918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Son historias que narran las aventuras de los dioses, así como de héroes y criaturas mitológicas. Estos dioses eran considerados seres poderosos que controlaban los elementos naturales y la vida de los humanos.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88858" y="1198536"/>
            <a:ext cx="730853" cy="12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1"/>
              </a:lnSpc>
            </a:pPr>
            <a:r>
              <a:rPr lang="en-US" sz="1001">
                <a:solidFill>
                  <a:srgbClr val="82DAD7"/>
                </a:solidFill>
                <a:latin typeface="League Gothic"/>
                <a:ea typeface="League Gothic"/>
                <a:cs typeface="League Gothic"/>
                <a:sym typeface="League Gothic"/>
              </a:rPr>
              <a:t>La Mitología Griega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9620" y="3080730"/>
            <a:ext cx="1166941" cy="14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1"/>
              </a:lnSpc>
              <a:spcBef>
                <a:spcPct val="0"/>
              </a:spcBef>
            </a:pPr>
            <a:r>
              <a:rPr lang="en-US" sz="918" b="1">
                <a:solidFill>
                  <a:srgbClr val="82DAD7"/>
                </a:solidFill>
                <a:latin typeface="Raleway Bold"/>
                <a:ea typeface="Raleway Bold"/>
                <a:cs typeface="Raleway Bold"/>
                <a:sym typeface="Raleway Bold"/>
              </a:rPr>
              <a:t>El rey de los dioses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93093" y="7333845"/>
            <a:ext cx="1016812" cy="27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3"/>
              </a:lnSpc>
            </a:pPr>
            <a:r>
              <a:rPr lang="en-US" sz="1200" b="1" spc="6" dirty="0" err="1">
                <a:solidFill>
                  <a:srgbClr val="383636"/>
                </a:solidFill>
                <a:latin typeface="Kunstler Script" panose="030304020206070D0D06" pitchFamily="66" charset="0"/>
                <a:ea typeface="29LT Zarid Sans Semi-Bold"/>
                <a:cs typeface="29LT Zarid Sans Semi-Bold"/>
                <a:sym typeface="29LT Zarid Sans Semi-Bold"/>
              </a:rPr>
              <a:t>Hecho</a:t>
            </a:r>
            <a:r>
              <a:rPr lang="en-US" sz="1200" b="1" spc="6" dirty="0">
                <a:solidFill>
                  <a:srgbClr val="383636"/>
                </a:solidFill>
                <a:latin typeface="Kunstler Script" panose="030304020206070D0D06" pitchFamily="66" charset="0"/>
                <a:ea typeface="29LT Zarid Sans Semi-Bold"/>
                <a:cs typeface="29LT Zarid Sans Semi-Bold"/>
                <a:sym typeface="29LT Zarid Sans Semi-Bold"/>
              </a:rPr>
              <a:t> por :Ricardo Guevara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69537" y="1354647"/>
            <a:ext cx="811635" cy="37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16"/>
              </a:lnSpc>
            </a:pP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La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mitología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griega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ha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influido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en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la literatura,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el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arte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y la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cultura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en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general.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370926" y="1958478"/>
            <a:ext cx="818283" cy="37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16"/>
              </a:lnSpc>
            </a:pPr>
            <a:r>
              <a:rPr lang="en-US" sz="918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Los dioses y criaturas mitológicas representan aspectos humanos y naturales.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470238" y="1223603"/>
            <a:ext cx="710934" cy="1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97"/>
              </a:lnSpc>
            </a:pPr>
            <a:r>
              <a:rPr lang="en-US" sz="964">
                <a:solidFill>
                  <a:srgbClr val="82DAD7"/>
                </a:solidFill>
                <a:latin typeface="League Gothic"/>
                <a:ea typeface="League Gothic"/>
                <a:cs typeface="League Gothic"/>
                <a:sym typeface="League Gothic"/>
              </a:rPr>
              <a:t>Cultura Occidental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37446" y="1810388"/>
            <a:ext cx="851762" cy="1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97"/>
              </a:lnSpc>
            </a:pPr>
            <a:r>
              <a:rPr lang="en-US" sz="964">
                <a:solidFill>
                  <a:srgbClr val="82DAD7"/>
                </a:solidFill>
                <a:latin typeface="League Gothic"/>
                <a:ea typeface="League Gothic"/>
                <a:cs typeface="League Gothic"/>
                <a:sym typeface="League Gothic"/>
              </a:rPr>
              <a:t>Simbolismo y metáforas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9620" y="2861026"/>
            <a:ext cx="417320" cy="29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709">
                <a:solidFill>
                  <a:srgbClr val="FFA73E"/>
                </a:solidFill>
                <a:latin typeface="Impact"/>
                <a:ea typeface="Impact"/>
                <a:cs typeface="Impact"/>
                <a:sym typeface="Impact"/>
              </a:rPr>
              <a:t>Zeus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99620" y="3317369"/>
            <a:ext cx="1240182" cy="2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"/>
              </a:lnSpc>
            </a:pPr>
            <a:r>
              <a:rPr lang="en-US" sz="918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Es el dios del cielo y el trueno, se le atribuye el control sobre el clima y el destino.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550688" y="5151920"/>
            <a:ext cx="531365" cy="1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7"/>
              </a:lnSpc>
              <a:spcBef>
                <a:spcPct val="0"/>
              </a:spcBef>
            </a:pPr>
            <a:r>
              <a:rPr lang="en-US" sz="964" b="1">
                <a:solidFill>
                  <a:srgbClr val="82DAD7"/>
                </a:solidFill>
                <a:latin typeface="Raleway Bold"/>
                <a:ea typeface="Raleway Bold"/>
                <a:cs typeface="Raleway Bold"/>
                <a:sym typeface="Raleway Bold"/>
              </a:rPr>
              <a:t>Atenea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550688" y="5333598"/>
            <a:ext cx="613278" cy="63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"/>
              </a:lnSpc>
            </a:pPr>
            <a:r>
              <a:rPr lang="en-US" sz="918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Hija de Zeus. Es diosa de la sabiduría y la guerra, se le atribuye la inteligencia y estrategia.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71855" y="4118566"/>
            <a:ext cx="531365" cy="1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7"/>
              </a:lnSpc>
              <a:spcBef>
                <a:spcPct val="0"/>
              </a:spcBef>
            </a:pPr>
            <a:r>
              <a:rPr lang="en-US" sz="964" b="1" dirty="0">
                <a:solidFill>
                  <a:srgbClr val="82DAD7"/>
                </a:solidFill>
                <a:latin typeface="Raleway Bold"/>
                <a:ea typeface="Raleway Bold"/>
                <a:cs typeface="Raleway Bold"/>
                <a:sym typeface="Raleway Bold"/>
              </a:rPr>
              <a:t>Hades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71855" y="4300245"/>
            <a:ext cx="613278" cy="72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"/>
              </a:lnSpc>
            </a:pP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Hermano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de Zeus. Es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el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dios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del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inframundo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y la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muerte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, se le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atribuye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el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control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sobre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los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muertos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y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el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infierno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3091" y="5151920"/>
            <a:ext cx="657058" cy="1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7"/>
              </a:lnSpc>
              <a:spcBef>
                <a:spcPct val="0"/>
              </a:spcBef>
            </a:pPr>
            <a:r>
              <a:rPr lang="en-US" sz="964" b="1">
                <a:solidFill>
                  <a:srgbClr val="82DAD7"/>
                </a:solidFill>
                <a:latin typeface="Raleway Bold"/>
                <a:ea typeface="Raleway Bold"/>
                <a:cs typeface="Raleway Bold"/>
                <a:sym typeface="Raleway Bold"/>
              </a:rPr>
              <a:t>Perséfone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83091" y="5333598"/>
            <a:ext cx="613278" cy="63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"/>
              </a:lnSpc>
            </a:pPr>
            <a:r>
              <a:rPr lang="en-US" sz="918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Hija de Zeus. Es diosa de la primavera y la reina del inframundo, al igual que de la agricultura.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79216" y="4118566"/>
            <a:ext cx="657058" cy="1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7"/>
              </a:lnSpc>
              <a:spcBef>
                <a:spcPct val="0"/>
              </a:spcBef>
            </a:pPr>
            <a:r>
              <a:rPr lang="en-US" sz="964" b="1" dirty="0">
                <a:solidFill>
                  <a:srgbClr val="82DAD7"/>
                </a:solidFill>
                <a:latin typeface="Raleway Bold"/>
                <a:ea typeface="Raleway Bold"/>
                <a:cs typeface="Raleway Bold"/>
                <a:sym typeface="Raleway Bold"/>
              </a:rPr>
              <a:t>Hera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79216" y="4300245"/>
            <a:ext cx="613278" cy="63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"/>
              </a:lnSpc>
            </a:pP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Esposa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de Zeus. Es la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diosa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del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matrimonio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y la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familia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, se le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atribuye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la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protección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de las </a:t>
            </a:r>
            <a:r>
              <a:rPr lang="en-US" sz="918" dirty="0" err="1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casadas</a:t>
            </a:r>
            <a:r>
              <a:rPr lang="en-US" sz="918" dirty="0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83091" y="6221677"/>
            <a:ext cx="657058" cy="1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7"/>
              </a:lnSpc>
              <a:spcBef>
                <a:spcPct val="0"/>
              </a:spcBef>
            </a:pPr>
            <a:r>
              <a:rPr lang="en-US" sz="964" b="1">
                <a:solidFill>
                  <a:srgbClr val="82DAD7"/>
                </a:solidFill>
                <a:latin typeface="Raleway Bold"/>
                <a:ea typeface="Raleway Bold"/>
                <a:cs typeface="Raleway Bold"/>
                <a:sym typeface="Raleway Bold"/>
              </a:rPr>
              <a:t>Artemisa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83091" y="6403356"/>
            <a:ext cx="613278" cy="54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"/>
              </a:lnSpc>
            </a:pPr>
            <a:r>
              <a:rPr lang="en-US" sz="918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Hija de Zeus. Es diosa de la caza y la luna, se le atribuye la protección de la naturaleza.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550688" y="6221677"/>
            <a:ext cx="657058" cy="1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7"/>
              </a:lnSpc>
              <a:spcBef>
                <a:spcPct val="0"/>
              </a:spcBef>
            </a:pPr>
            <a:r>
              <a:rPr lang="en-US" sz="964" b="1">
                <a:solidFill>
                  <a:srgbClr val="82DAD7"/>
                </a:solidFill>
                <a:latin typeface="Raleway Bold"/>
                <a:ea typeface="Raleway Bold"/>
                <a:cs typeface="Raleway Bold"/>
                <a:sym typeface="Raleway Bold"/>
              </a:rPr>
              <a:t>Apolo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50688" y="6403356"/>
            <a:ext cx="613278" cy="54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"/>
              </a:lnSpc>
            </a:pPr>
            <a:r>
              <a:rPr lang="en-US" sz="918">
                <a:solidFill>
                  <a:srgbClr val="F8E7D2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Hija de Zeus. Es dios del sol y la música, se le atribuye la creatividad y la inspiración.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250</Words>
  <Application>Microsoft Office PowerPoint</Application>
  <PresentationFormat>Personalizado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Impact</vt:lpstr>
      <vt:lpstr>Raleway Bold</vt:lpstr>
      <vt:lpstr>Th Sarabun New</vt:lpstr>
      <vt:lpstr>Arial</vt:lpstr>
      <vt:lpstr>Calibri</vt:lpstr>
      <vt:lpstr>Kunstler Script</vt:lpstr>
      <vt:lpstr>League Gothic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Infografía Mitología Griega Dioses Griegos Ilustrado Negro</dc:title>
  <dc:creator>Ricardo Guevara</dc:creator>
  <cp:lastModifiedBy>Ricardo Fabricio Guevara Zelaya</cp:lastModifiedBy>
  <cp:revision>6</cp:revision>
  <dcterms:created xsi:type="dcterms:W3CDTF">2006-08-16T00:00:00Z</dcterms:created>
  <dcterms:modified xsi:type="dcterms:W3CDTF">2026-07-26T01:18:08Z</dcterms:modified>
  <dc:identifier>DAHOo2XTsik</dc:identifier>
</cp:coreProperties>
</file>